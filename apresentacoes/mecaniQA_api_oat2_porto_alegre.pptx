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2" r:id="rId11"/>
    <p:sldId id="263" r:id="rId12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24763c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24763c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324763cc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324763cc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324763cc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324763cc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a07209c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1a07209c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b7ff4f1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b7ff4f1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5ed034c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05ed034c1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1a07209c1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1a07209c1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73" y="179361"/>
            <a:ext cx="2182950" cy="12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05725" y="370300"/>
            <a:ext cx="59079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Centro Universitário de Excelência</a:t>
            </a:r>
            <a:endParaRPr sz="20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Sistemas de Informação</a:t>
            </a:r>
            <a:endParaRPr sz="20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68975" y="3310128"/>
            <a:ext cx="8091900" cy="12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06425" indent="-706425">
              <a:lnSpc>
                <a:spcPct val="115000"/>
              </a:lnSpc>
              <a:buNone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Autores: 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Hélio Nunes Moraes Junior</a:t>
            </a:r>
            <a:br>
              <a:rPr lang="pt-BR" sz="1200"/>
            </a:b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Kevilyn Bitencourt da Cruz</a:t>
            </a:r>
            <a:br>
              <a:rPr lang="pt-BR" sz="1200"/>
            </a:b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Marcelo Henrique Fernandes Mauricio</a:t>
            </a:r>
            <a:br>
              <a:rPr lang="pt-BR" sz="1200"/>
            </a:b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Murillo Rigaud dos Santos Oliveira</a:t>
            </a:r>
            <a:br>
              <a:rPr lang="pt-BR" sz="1200"/>
            </a:b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Rodrigo Alves Oliveira</a:t>
            </a:r>
          </a:p>
        </p:txBody>
      </p:sp>
      <p:sp>
        <p:nvSpPr>
          <p:cNvPr id="57" name="Google Shape;57;p13"/>
          <p:cNvSpPr/>
          <p:nvPr/>
        </p:nvSpPr>
        <p:spPr>
          <a:xfrm>
            <a:off x="0" y="1531950"/>
            <a:ext cx="9144000" cy="1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latin typeface="Poppins"/>
                <a:ea typeface="Poppins"/>
                <a:cs typeface="Poppins"/>
                <a:sym typeface="Poppins"/>
              </a:rPr>
              <a:t>MecâniQA: da Ordem de Serviço ao Pedido de Peças</a:t>
            </a:r>
            <a:endParaRPr sz="36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14925" y="4653975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Vitória da Conquista, 2026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  <p:pic>
        <p:nvPicPr>
          <p:cNvPr id="60" name="Picture 59" descr="logo_o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703320"/>
            <a:ext cx="3200400" cy="6299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32319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92150" y="482800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3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92150" y="3313225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mostrar como a MecâniQA passou a controlar Ordens de Serviço e Pedidos de Peças com uma API segura, testada e pronta para crescer.</a:t>
            </a:r>
          </a:p>
        </p:txBody>
      </p:sp>
      <p:sp>
        <p:nvSpPr>
          <p:cNvPr id="67" name="Google Shape;67;p14"/>
          <p:cNvSpPr txBox="1"/>
          <p:nvPr/>
        </p:nvSpPr>
        <p:spPr>
          <a:xfrm>
            <a:off x="3419856" y="667512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Contexto e objetivo: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problema da MecâniQA e a evolução do MVP</a:t>
            </a:r>
          </a:p>
        </p:txBody>
      </p:sp>
      <p:sp>
        <p:nvSpPr>
          <p:cNvPr id="68" name="Google Shape;68;p14"/>
          <p:cNvSpPr txBox="1"/>
          <p:nvPr/>
        </p:nvSpPr>
        <p:spPr>
          <a:xfrm>
            <a:off x="3419856" y="2002536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Fundamentos de OO: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Construtores, this e relacionamentos</a:t>
            </a:r>
          </a:p>
        </p:txBody>
      </p:sp>
      <p:sp>
        <p:nvSpPr>
          <p:cNvPr id="69" name="Google Shape;69;p14"/>
          <p:cNvSpPr txBox="1"/>
          <p:nvPr/>
        </p:nvSpPr>
        <p:spPr>
          <a:xfrm>
            <a:off x="3419856" y="3328416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Entidade associativa: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Pedido com várias peças e multiplicidades</a:t>
            </a:r>
          </a:p>
        </p:txBody>
      </p:sp>
      <p:sp>
        <p:nvSpPr>
          <p:cNvPr id="70" name="Google Shape;70;p14"/>
          <p:cNvSpPr txBox="1"/>
          <p:nvPr/>
        </p:nvSpPr>
        <p:spPr>
          <a:xfrm>
            <a:off x="6117336" y="667512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Padrões de projeto: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Builder, DTO e Mapper na prática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117336" y="2002536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Fluxo e resultados: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de atividade da US04 e entregas</a:t>
            </a:r>
          </a:p>
        </p:txBody>
      </p:sp>
      <p:pic>
        <p:nvPicPr>
          <p:cNvPr id="73" name="Picture 72" descr="logo_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2167128"/>
            <a:ext cx="2697480" cy="530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O problema da MecâniQA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310896" y="1207008"/>
            <a:ext cx="4343400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Problema: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base de clientes cresceu e a gestão de estoque e serviços precisava migrar para a Web.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MVP da Fase 1: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API do catálogo de Peças e Serviços, com os dados em memória.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Fase 2 (esta entrega):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Ordens de Serviço e Pedidos de Peças, com status do orçamento à entrega.</a:t>
            </a:r>
          </a:p>
        </p:txBody>
      </p:sp>
      <p:sp>
        <p:nvSpPr>
          <p:cNvPr id="91" name="Google Shape;91;p16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411480" y="3456432"/>
            <a:ext cx="4160520" cy="749808"/>
          </a:xfrm>
          <a:prstGeom prst="roundRect">
            <a:avLst>
              <a:gd name="adj" fmla="val 18000"/>
            </a:avLst>
          </a:prstGeom>
          <a:solidFill>
            <a:srgbClr val="EDF9D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93" name="Picture 92" descr="icon_gan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39312"/>
            <a:ext cx="384048" cy="38404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33272" y="3511296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Ganho para a oficina: </a:t>
            </a: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atendente, estoquista e gerente acompanham o mesmo status em tempo real.</a:t>
            </a:r>
          </a:p>
        </p:txBody>
      </p:sp>
      <p:pic>
        <p:nvPicPr>
          <p:cNvPr id="95" name="Picture 94" descr="s3_road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80160"/>
            <a:ext cx="4023360" cy="2923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Construtores e this</a:t>
            </a:r>
            <a:endParaRPr sz="3200" b="1"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310896" y="1207008"/>
            <a:ext cx="4343400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Múltiplos construtores: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mesma classe oferece mais de uma forma de criar o objeto.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Vazio: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 objeto nasce em branco e é preenchido pelos setters, como os Mappers fazem com Peca.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Completo: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ItemPedidoPeca(peca, quantidade) já nasce pronto para o pedido.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aponta para o próprio objeto e separa o atributo do parâmetro de mesmo nome.</a:t>
            </a:r>
          </a:p>
        </p:txBody>
      </p:sp>
      <p:sp>
        <p:nvSpPr>
          <p:cNvPr id="101" name="Google Shape;101;p17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411480" y="3547872"/>
            <a:ext cx="4160520" cy="749808"/>
          </a:xfrm>
          <a:prstGeom prst="roundRect">
            <a:avLst>
              <a:gd name="adj" fmla="val 18000"/>
            </a:avLst>
          </a:prstGeom>
          <a:solidFill>
            <a:srgbClr val="EDF9D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03" name="Picture 102" descr="icon_gan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730752"/>
            <a:ext cx="384048" cy="38404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33272" y="3602736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Ganho para a oficina: </a:t>
            </a: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preço do item fica registrado no pedido, mesmo se a peça for reajustada.</a:t>
            </a:r>
          </a:p>
        </p:txBody>
      </p:sp>
      <p:pic>
        <p:nvPicPr>
          <p:cNvPr id="105" name="Picture 104" descr="s4_construto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280160"/>
            <a:ext cx="411480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Relacionamentos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Picture 110" descr="s5_relacioname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8503920" cy="31520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Entidade associativa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4709160" y="1207008"/>
            <a:ext cx="4160520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Muitos-para-muitos: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um pedido tem várias peças e uma peça aparece em vários pedidos.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ItemPedidoPeca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fica no meio e guarda o que é da relação: quantidade e preço unitário.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Multiplicidades: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um pedido tem 0..* itens e cada item aponta para 1 peça.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Atributos viram mapeamento: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itens (List) = 0..* e peca (Peca) = 1.</a:t>
            </a:r>
          </a:p>
        </p:txBody>
      </p:sp>
      <p:sp>
        <p:nvSpPr>
          <p:cNvPr id="91" name="Google Shape;91;p16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Picture 91" descr="s6_associat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98448"/>
            <a:ext cx="4206240" cy="3020109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4800600" y="3566160"/>
            <a:ext cx="4023360" cy="749808"/>
          </a:xfrm>
          <a:prstGeom prst="roundRect">
            <a:avLst>
              <a:gd name="adj" fmla="val 18000"/>
            </a:avLst>
          </a:prstGeom>
          <a:solidFill>
            <a:srgbClr val="EDF9D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94" name="Picture 93" descr="icon_gan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749039"/>
            <a:ext cx="384048" cy="38404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5422392" y="3621024"/>
            <a:ext cx="3273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Ganho para a oficina: </a:t>
            </a: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total do pedido é calculado sozinho, somando os subtotais.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Padrão Builder</a:t>
            </a:r>
            <a:endParaRPr sz="3200" b="1"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310896" y="1207008"/>
            <a:ext cx="4343400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padrão criacional que monta um objeto complexo passo a passo.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que usamos: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evita um construtor gigante e toda OS nasce consistente, com status ABERTO.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fizemos: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classe estática aninhada Builder, métodos com return this e build().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Blindagem: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construtor private; new OrdemServico() nem compila.</a:t>
            </a:r>
          </a:p>
        </p:txBody>
      </p:sp>
      <p:sp>
        <p:nvSpPr>
          <p:cNvPr id="101" name="Google Shape;101;p17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411480" y="3547872"/>
            <a:ext cx="4160520" cy="749808"/>
          </a:xfrm>
          <a:prstGeom prst="roundRect">
            <a:avLst>
              <a:gd name="adj" fmla="val 18000"/>
            </a:avLst>
          </a:prstGeom>
          <a:solidFill>
            <a:srgbClr val="EDF9D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03" name="Picture 102" descr="icon_gan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730752"/>
            <a:ext cx="384048" cy="38404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33272" y="3602736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Ganho para a oficina: </a:t>
            </a: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novos campos na OS entram com um método a mais, sem quebrar o que já funciona.</a:t>
            </a:r>
          </a:p>
        </p:txBody>
      </p:sp>
      <p:pic>
        <p:nvPicPr>
          <p:cNvPr id="105" name="Picture 104" descr="s7_bui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280160"/>
            <a:ext cx="411480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DTO e Mapper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Picture 110" descr="s8_dto_map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43584"/>
            <a:ext cx="8503920" cy="2147406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65759" y="3584448"/>
            <a:ext cx="26517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DTO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Classe só de transporte: leva e traz apenas os campos que o cliente precisa.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00400" y="3584448"/>
            <a:ext cx="26517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Mapper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Classe utilitária, com métodos static e sem estado, que converte DTO em modelo e vice-versa.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89320" y="3584448"/>
            <a:ext cx="2834640" cy="868680"/>
          </a:xfrm>
          <a:prstGeom prst="roundRect">
            <a:avLst>
              <a:gd name="adj" fmla="val 18000"/>
            </a:avLst>
          </a:prstGeom>
          <a:solidFill>
            <a:srgbClr val="EDF9D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15" name="Picture 114" descr="icon_gan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3826763"/>
            <a:ext cx="384048" cy="38404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611112" y="3639312"/>
            <a:ext cx="2084832" cy="7589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Ganho: </a:t>
            </a: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contrato estável e seguro para quem consome a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Diagrama de Atividade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E9F219A-3114-D3A1-CF95-8EB5253768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90"/>
          <a:stretch>
            <a:fillRect/>
          </a:stretch>
        </p:blipFill>
        <p:spPr>
          <a:xfrm>
            <a:off x="687761" y="1055825"/>
            <a:ext cx="7768477" cy="36855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4617720" y="1207008"/>
            <a:ext cx="4251960" cy="24688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Entregamos: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OS e Pedidos com status, entidade associativa, Builder, DTOs e Mappers.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a oficina: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menos retrabalho, status visível para toda a equipe e total automático.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Qualidade:</a:t>
            </a:r>
            <a:r>
              <a:rPr lang="pt-BR" sz="12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cada User Story tem cenários de sucesso e de erro testados.</a:t>
            </a:r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Considerações finais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411480" y="1298448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94360" y="1426464"/>
            <a:ext cx="16916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>
                <a:solidFill>
                  <a:srgbClr val="14133C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Stories entregues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(US01 a US05)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587752" y="1298448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14133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770632" y="1426464"/>
            <a:ext cx="16916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>
                <a:solidFill>
                  <a:srgbClr val="99E508"/>
                </a:solidFill>
                <a:latin typeface="Poppins"/>
                <a:ea typeface="Poppins"/>
                <a:cs typeface="Poppins"/>
                <a:sym typeface="Poppins"/>
              </a:rPr>
              <a:t>84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testes automatizados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 nenhuma falha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11480" y="292608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94360" y="3054096"/>
            <a:ext cx="16916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>
                <a:solidFill>
                  <a:srgbClr val="14133C"/>
                </a:solidFill>
                <a:latin typeface="Poppins"/>
                <a:ea typeface="Poppins"/>
                <a:cs typeface="Poppins"/>
                <a:sym typeface="Poppins"/>
              </a:rPr>
              <a:t>41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chamadas no Postman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 126 verificações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587752" y="292608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770632" y="3054096"/>
            <a:ext cx="16916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>
                <a:solidFill>
                  <a:srgbClr val="14133C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de Lombok: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tudo feito à mão</a:t>
            </a:r>
          </a:p>
        </p:txBody>
      </p:sp>
      <p:pic>
        <p:nvPicPr>
          <p:cNvPr id="128" name="Picture 127" descr="logo_o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813048"/>
            <a:ext cx="3017520" cy="5939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body" idx="1"/>
          </p:nvPr>
        </p:nvSpPr>
        <p:spPr>
          <a:xfrm>
            <a:off x="310896" y="1207008"/>
            <a:ext cx="8503920" cy="26060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MECÂNIQA. OAT 2 – Padrão de Projeto e Diagrama de Atividade. 2026.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EQUIPE PORTO ALEGRE. Repositório do projeto, 2026. github.com/Meizolas/mecaniQA-api-porto-alegre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GAMMA, E. et al. Padrões de Projeto: soluções reutilizáveis de software orientado a objetos. Porto Alegre: Bookman, 2000.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FOWLER, M. Padrões de Arquitetura de Aplicações Corporativas. Porto Alegre: Bookman, 2006.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OMG. Unified Modeling Language (UML) Specification, versão 2.5.1. 2017.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90000"/>
              <a:buFont typeface="Arial"/>
              <a:buChar char="●"/>
            </a:pPr>
            <a:r>
              <a:rPr lang="pt-BR" sz="1100" b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SPRING. Spring Boot Reference Documentation. docs.spring.io/spring-boot</a:t>
            </a:r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MecâniQA API - OAT 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" name="Picture 128" descr="logo_o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931920"/>
            <a:ext cx="3017520" cy="5939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781</Words>
  <Application>Microsoft Office PowerPoint</Application>
  <PresentationFormat>Apresentação na tela (16:9)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Poppins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Hélio Nunes Moraes</cp:lastModifiedBy>
  <cp:revision>2</cp:revision>
  <dcterms:modified xsi:type="dcterms:W3CDTF">2026-09-28T01:57:44Z</dcterms:modified>
</cp:coreProperties>
</file>