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10"/>
      <p:bold r:id="rId11"/>
      <p:italic r:id="rId12"/>
      <p:boldItalic r:id="rId13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Apresente o título e a equipe.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OAT 1 — Introdução a Diagrama de Classes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Apresente a sequência e explique que cada item corresponde a uma página seguinte.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Barema da OAT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Contextualize a modernização da MecâniQA e explique classes, atributos private, construtores, static, enum e getters/setters.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OAT 1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src/main/java/br/com/mecaniqa/model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Explique a função de um Controller, as rotas, os endpoints, os quatro verbos e os status de retorno.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src/main/java/br/com/mecaniqa/controller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Explique instance static, construtor private, getInstance() e a lista compartilhada em memória.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src/main/java/br/com/mecaniqa/repository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Sintetize a entrega, os testes e a limitação intencional da persistência em memória.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postman/MecaniQA-Pecas.postman_collection.json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src/test/java/br/com/mecaniqa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Apresente brevemente as referências e encerre.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OAT 1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Repositório mecaniQA-api-porto-alegre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>
            <a:extLst>
              <a:ext uri="{FF2B5EF4-FFF2-40B4-BE49-F238E27FC236}">
                <a16:creationId xmlns:a16="http://schemas.microsoft.com/office/drawing/2014/main" id="{2C991709-5411-4C9F-8A18-EC55194F61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>
            <a:extLst>
              <a:ext uri="{FF2B5EF4-FFF2-40B4-BE49-F238E27FC236}">
                <a16:creationId xmlns:a16="http://schemas.microsoft.com/office/drawing/2014/main" id="{D5EBF76F-C9A4-47BD-B529-911E69F34B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3C45E1EA-62C9-41D2-90E9-C523C4486B1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DA408D8E-28ED-4054-9A3E-E9C445F3A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>
            <a:extLst>
              <a:ext uri="{FF2B5EF4-FFF2-40B4-BE49-F238E27FC236}">
                <a16:creationId xmlns:a16="http://schemas.microsoft.com/office/drawing/2014/main" id="{3C78477B-3C37-4AAE-98B7-7EF8A94F306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>
            <a:extLst>
              <a:ext uri="{FF2B5EF4-FFF2-40B4-BE49-F238E27FC236}">
                <a16:creationId xmlns:a16="http://schemas.microsoft.com/office/drawing/2014/main" id="{7DDD5ED0-3FBC-44B5-8005-0BB19CC23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>
            <a:extLst>
              <a:ext uri="{FF2B5EF4-FFF2-40B4-BE49-F238E27FC236}">
                <a16:creationId xmlns:a16="http://schemas.microsoft.com/office/drawing/2014/main" id="{43484760-3215-4A57-B9D6-95457838E0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>
            <a:extLst>
              <a:ext uri="{FF2B5EF4-FFF2-40B4-BE49-F238E27FC236}">
                <a16:creationId xmlns:a16="http://schemas.microsoft.com/office/drawing/2014/main" id="{4BC77838-A813-4C59-88E7-8EBE87C0CD0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>
            <a:extLst>
              <a:ext uri="{FF2B5EF4-FFF2-40B4-BE49-F238E27FC236}">
                <a16:creationId xmlns:a16="http://schemas.microsoft.com/office/drawing/2014/main" id="{42249AC9-ABBF-45A7-A801-2003A4920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>
            <a:extLst>
              <a:ext uri="{FF2B5EF4-FFF2-40B4-BE49-F238E27FC236}">
                <a16:creationId xmlns:a16="http://schemas.microsoft.com/office/drawing/2014/main" id="{8BE85A41-63E9-4307-9129-384DF89761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>
            <a:extLst>
              <a:ext uri="{FF2B5EF4-FFF2-40B4-BE49-F238E27FC236}">
                <a16:creationId xmlns:a16="http://schemas.microsoft.com/office/drawing/2014/main" id="{46DAC2AB-49B7-4711-B209-32516E5449A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>
            <a:extLst>
              <a:ext uri="{FF2B5EF4-FFF2-40B4-BE49-F238E27FC236}">
                <a16:creationId xmlns:a16="http://schemas.microsoft.com/office/drawing/2014/main" id="{583B8CC9-B182-4564-8CB3-2AC918AB160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>
            <a:extLst>
              <a:ext uri="{FF2B5EF4-FFF2-40B4-BE49-F238E27FC236}">
                <a16:creationId xmlns:a16="http://schemas.microsoft.com/office/drawing/2014/main" id="{AD5CF0A7-E1CB-4941-95F8-476114F17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>
            <a:extLst>
              <a:ext uri="{FF2B5EF4-FFF2-40B4-BE49-F238E27FC236}">
                <a16:creationId xmlns:a16="http://schemas.microsoft.com/office/drawing/2014/main" id="{F6F120A5-B6A1-411E-87FC-2BC91B3FDF5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>
            <a:extLst>
              <a:ext uri="{FF2B5EF4-FFF2-40B4-BE49-F238E27FC236}">
                <a16:creationId xmlns:a16="http://schemas.microsoft.com/office/drawing/2014/main" id="{B60F57CB-93F4-42D1-B611-344D5F745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>
            <a:extLst>
              <a:ext uri="{FF2B5EF4-FFF2-40B4-BE49-F238E27FC236}">
                <a16:creationId xmlns:a16="http://schemas.microsoft.com/office/drawing/2014/main" id="{642F777A-0DAE-4A8D-921F-F0DB3C414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>
            <a:extLst>
              <a:ext uri="{FF2B5EF4-FFF2-40B4-BE49-F238E27FC236}">
                <a16:creationId xmlns:a16="http://schemas.microsoft.com/office/drawing/2014/main" id="{74E4FAB4-DB98-446B-B494-99876DAD265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>
            <a:extLst>
              <a:ext uri="{FF2B5EF4-FFF2-40B4-BE49-F238E27FC236}">
                <a16:creationId xmlns:a16="http://schemas.microsoft.com/office/drawing/2014/main" id="{7FEE2D3E-9202-4767-960B-97F073C2A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>
            <a:extLst>
              <a:ext uri="{FF2B5EF4-FFF2-40B4-BE49-F238E27FC236}">
                <a16:creationId xmlns:a16="http://schemas.microsoft.com/office/drawing/2014/main" id="{A59EC53A-D888-4206-BA95-FF6E9B4D3F3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>
            <a:extLst>
              <a:ext uri="{FF2B5EF4-FFF2-40B4-BE49-F238E27FC236}">
                <a16:creationId xmlns:a16="http://schemas.microsoft.com/office/drawing/2014/main" id="{02144F0D-1D14-4CCB-B1F1-1877BDB85BAB}"/>
              </a:ext>
            </a:extLst>
          </p:cNvPr>
          <p:cNvSpPr>
            <a:spLocks noGrp="1"/>
          </p:cNvSpPr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>
            <a:extLst>
              <a:ext uri="{FF2B5EF4-FFF2-40B4-BE49-F238E27FC236}">
                <a16:creationId xmlns:a16="http://schemas.microsoft.com/office/drawing/2014/main" id="{44784B89-6DD9-4103-8767-EAF3BFDF3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>
            <a:extLst>
              <a:ext uri="{FF2B5EF4-FFF2-40B4-BE49-F238E27FC236}">
                <a16:creationId xmlns:a16="http://schemas.microsoft.com/office/drawing/2014/main" id="{019ADCF7-D1F1-4714-BC71-B9F980AF1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>
            <a:extLst>
              <a:ext uri="{FF2B5EF4-FFF2-40B4-BE49-F238E27FC236}">
                <a16:creationId xmlns:a16="http://schemas.microsoft.com/office/drawing/2014/main" id="{A658A5AA-9C11-4D40-BD6F-5C69D014833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>
            <a:extLst>
              <a:ext uri="{FF2B5EF4-FFF2-40B4-BE49-F238E27FC236}">
                <a16:creationId xmlns:a16="http://schemas.microsoft.com/office/drawing/2014/main" id="{95126D6B-C751-4752-ACAA-D5D8FF6810E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>
            <a:extLst>
              <a:ext uri="{FF2B5EF4-FFF2-40B4-BE49-F238E27FC236}">
                <a16:creationId xmlns:a16="http://schemas.microsoft.com/office/drawing/2014/main" id="{FFC28E7C-725F-42EE-866E-C444A1382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>
            <a:extLst>
              <a:ext uri="{FF2B5EF4-FFF2-40B4-BE49-F238E27FC236}">
                <a16:creationId xmlns:a16="http://schemas.microsoft.com/office/drawing/2014/main" id="{F4BFEF56-7E70-4B2A-81EB-F0028B63366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>
            <a:extLst>
              <a:ext uri="{FF2B5EF4-FFF2-40B4-BE49-F238E27FC236}">
                <a16:creationId xmlns:a16="http://schemas.microsoft.com/office/drawing/2014/main" id="{C09648FA-6E51-45F0-A0D1-2D9BC6A37D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>
            <a:extLst>
              <a:ext uri="{FF2B5EF4-FFF2-40B4-BE49-F238E27FC236}">
                <a16:creationId xmlns:a16="http://schemas.microsoft.com/office/drawing/2014/main" id="{35249367-46CF-490D-B581-683A0A064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>
            <a:extLst>
              <a:ext uri="{FF2B5EF4-FFF2-40B4-BE49-F238E27FC236}">
                <a16:creationId xmlns:a16="http://schemas.microsoft.com/office/drawing/2014/main" id="{228827BD-54EB-4483-ADBF-94E02F868BE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>
            <a:extLst>
              <a:ext uri="{FF2B5EF4-FFF2-40B4-BE49-F238E27FC236}">
                <a16:creationId xmlns:a16="http://schemas.microsoft.com/office/drawing/2014/main" id="{C7670A55-0A3E-40A2-9E4F-CDF0425701A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>
            <a:extLst>
              <a:ext uri="{FF2B5EF4-FFF2-40B4-BE49-F238E27FC236}">
                <a16:creationId xmlns:a16="http://schemas.microsoft.com/office/drawing/2014/main" id="{422D5637-0F02-472E-B147-609D9AC84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8ABCDDCE-5FC9-4597-AC3D-28D701761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84C39736-7ED0-4409-BD28-ADBEC2047FE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54;p1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273" y="179361"/>
            <a:ext cx="2182950" cy="1237475"/>
          </a:xfrm>
          <a:prstGeom prst="rect">
            <a:avLst/>
          </a:prstGeom>
          <a:ln>
            <a:noFill/>
          </a:ln>
        </p:spPr>
      </p:pic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F88B8B11-B83F-4E51-8B0D-7C3BF35C45B0}"/>
              </a:ext>
            </a:extLst>
          </p:cNvPr>
          <p:cNvSpPr>
            <a:spLocks noGrp="1"/>
          </p:cNvSpPr>
          <p:nvPr/>
        </p:nvSpPr>
        <p:spPr>
          <a:xfrm>
            <a:off x="2905725" y="370300"/>
            <a:ext cx="5907900" cy="8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0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</a:rPr>
              <a:t>Centro Universitário de Excelência</a:t>
            </a:r>
          </a:p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0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</a:rPr>
              <a:t>Sistemas de Informação</a:t>
            </a:r>
          </a:p>
        </p:txBody>
      </p:sp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7FF9EF1D-1E40-4663-92EF-4882F4C8AE46}"/>
              </a:ext>
            </a:extLst>
          </p:cNvPr>
          <p:cNvSpPr>
            <a:spLocks noGrp="1"/>
          </p:cNvSpPr>
          <p:nvPr/>
        </p:nvSpPr>
        <p:spPr>
          <a:xfrm>
            <a:off x="668975" y="3220700"/>
            <a:ext cx="8091900" cy="12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Autor: </a:t>
            </a:r>
            <a:r>
              <a:rPr lang="pt-BR" sz="1400" dirty="0"/>
              <a:t>Kevilyn Bitencourt da Cruz</a:t>
            </a:r>
            <a:endParaRPr sz="1400" b="1" dirty="0">
              <a:latin typeface="Poppins"/>
              <a:ea typeface="Poppins"/>
              <a:cs typeface="Poppins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        </a:t>
            </a:r>
            <a:r>
              <a:rPr lang="pt-BR" sz="1400" b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          </a:t>
            </a:r>
            <a:r>
              <a:rPr lang="pt-BR" sz="140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Hélio </a:t>
            </a:r>
            <a:r>
              <a:rPr lang="pt-BR" sz="14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Nunes Moraes Junior</a:t>
            </a:r>
            <a:endParaRPr sz="1400" dirty="0">
              <a:solidFill>
                <a:schemeClr val="dk1"/>
              </a:solidFill>
              <a:latin typeface="Poppins"/>
              <a:ea typeface="Poppins"/>
              <a:cs typeface="Poppins"/>
            </a:endParaRPr>
          </a:p>
          <a:p>
            <a:pPr marL="4572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dirty="0">
                <a:solidFill>
                  <a:schemeClr val="dk1"/>
                </a:solidFill>
                <a:latin typeface="Poppins"/>
                <a:ea typeface="Poppins"/>
                <a:cs typeface="Poppins"/>
              </a:rPr>
              <a:t>     Rodrigo Alves Oliveira</a:t>
            </a:r>
          </a:p>
          <a:p>
            <a:pPr marL="4572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dirty="0">
                <a:solidFill>
                  <a:schemeClr val="dk1"/>
                </a:solidFill>
                <a:latin typeface="Poppins"/>
                <a:ea typeface="Poppins"/>
                <a:cs typeface="Poppins"/>
              </a:rPr>
              <a:t>     Marcelo Henrique Fernandes Mauricio</a:t>
            </a:r>
          </a:p>
          <a:p>
            <a:pPr marL="45720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400" dirty="0">
                <a:solidFill>
                  <a:schemeClr val="dk1"/>
                </a:solidFill>
                <a:latin typeface="Poppins"/>
                <a:ea typeface="Poppins"/>
                <a:cs typeface="Poppins"/>
              </a:rPr>
              <a:t>     Murillo Rigaud dos Santos Oliveira</a:t>
            </a:r>
          </a:p>
        </p:txBody>
      </p:sp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79940714-CE7A-41F7-A9E6-3F13B51A010E}"/>
              </a:ext>
            </a:extLst>
          </p:cNvPr>
          <p:cNvSpPr>
            <a:spLocks noGrp="1"/>
          </p:cNvSpPr>
          <p:nvPr/>
        </p:nvSpPr>
        <p:spPr>
          <a:xfrm>
            <a:off x="0" y="1531950"/>
            <a:ext cx="9144000" cy="17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11430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latin typeface="Poppins"/>
                <a:ea typeface="Poppins"/>
                <a:cs typeface="Poppins"/>
              </a:rPr>
              <a:t>MecâniQA: Web API Fundacional</a:t>
            </a:r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C0DEEA30-B676-4212-A607-0A22A7E5EB01}"/>
              </a:ext>
            </a:extLst>
          </p:cNvPr>
          <p:cNvSpPr>
            <a:spLocks noGrp="1"/>
          </p:cNvSpPr>
          <p:nvPr/>
        </p:nvSpPr>
        <p:spPr>
          <a:xfrm>
            <a:off x="3214925" y="4653975"/>
            <a:ext cx="3000000" cy="45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114300" lvl="0" indent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chemeClr val="dk1"/>
                </a:solidFill>
                <a:latin typeface="Poppins"/>
                <a:ea typeface="Poppins"/>
                <a:cs typeface="Poppins"/>
              </a:rPr>
              <a:t>Vitória da Conquista</a:t>
            </a:r>
            <a:r>
              <a:rPr sz="1400" dirty="0">
                <a:solidFill>
                  <a:schemeClr val="dk1"/>
                </a:solidFill>
                <a:latin typeface="Poppins"/>
                <a:ea typeface="Poppins"/>
                <a:cs typeface="Poppins"/>
              </a:rPr>
              <a:t>, 2026</a:t>
            </a:r>
          </a:p>
        </p:txBody>
      </p:sp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F0633138-CEAA-42D9-BB12-75164B134C5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AD75FED6-38D0-DE9C-92C0-6E7FA635581C}" type="slidenum">
              <a:rPr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0362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C0671E0B-9FBA-497E-BE4D-836BFA28F1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31900" cy="5143500"/>
          </a:xfrm>
          <a:prstGeom prst="rect">
            <a:avLst/>
          </a:prstGeom>
          <a:solidFill>
            <a:schemeClr val="lt2"/>
          </a:solidFill>
          <a:ln w="9525" cmpd="sng">
            <a:solidFill>
              <a:srgbClr val="F3F3F3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60B43718-3C0B-4D12-BCCF-4B6BA03D4CD3}"/>
              </a:ext>
            </a:extLst>
          </p:cNvPr>
          <p:cNvSpPr>
            <a:spLocks noGrp="1"/>
          </p:cNvSpPr>
          <p:nvPr/>
        </p:nvSpPr>
        <p:spPr>
          <a:xfrm>
            <a:off x="192150" y="482800"/>
            <a:ext cx="2847600" cy="1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chemeClr val="dk1"/>
                </a:solidFill>
                <a:latin typeface="Poppins"/>
                <a:ea typeface="Poppins"/>
                <a:cs typeface="Poppins"/>
              </a:rPr>
              <a:t>Agenda</a:t>
            </a:r>
          </a:p>
        </p:txBody>
      </p:sp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587B654C-3F75-4C58-A0CC-EC8C7D2EB0C8}"/>
              </a:ext>
            </a:extLst>
          </p:cNvPr>
          <p:cNvSpPr>
            <a:spLocks noGrp="1"/>
          </p:cNvSpPr>
          <p:nvPr/>
        </p:nvSpPr>
        <p:spPr>
          <a:xfrm>
            <a:off x="192150" y="3313225"/>
            <a:ext cx="2847600" cy="1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Poppins"/>
                <a:ea typeface="Poppins"/>
                <a:cs typeface="Poppins"/>
              </a:rPr>
              <a:t>Apresentar o problema, os conceitos de Orientação a Objetos e a construção da Web API fundacional da MecâniQA.</a:t>
            </a:r>
          </a:p>
        </p:txBody>
      </p:sp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558532CF-5ED4-4D79-AEA0-5BD4F32CD58B}"/>
              </a:ext>
            </a:extLst>
          </p:cNvPr>
          <p:cNvSpPr>
            <a:spLocks noGrp="1"/>
          </p:cNvSpPr>
          <p:nvPr/>
        </p:nvSpPr>
        <p:spPr>
          <a:xfrm>
            <a:off x="3420000" y="670050"/>
            <a:ext cx="2246700" cy="10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dk1"/>
                </a:solidFill>
                <a:latin typeface="Poppins"/>
                <a:ea typeface="Poppins"/>
                <a:cs typeface="Poppins"/>
              </a:rPr>
              <a:t>1. Contexto e conceitos de OO: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2"/>
                </a:solidFill>
                <a:latin typeface="Poppins"/>
                <a:ea typeface="Poppins"/>
                <a:cs typeface="Poppins"/>
              </a:rPr>
              <a:t>Problema, MVP e modelagem das classes</a:t>
            </a:r>
          </a:p>
        </p:txBody>
      </p:sp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2BEB7A26-B550-4BC5-8663-6F812AF876AE}"/>
              </a:ext>
            </a:extLst>
          </p:cNvPr>
          <p:cNvSpPr>
            <a:spLocks noGrp="1"/>
          </p:cNvSpPr>
          <p:nvPr/>
        </p:nvSpPr>
        <p:spPr>
          <a:xfrm>
            <a:off x="3420000" y="2000025"/>
            <a:ext cx="2246700" cy="10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dk1"/>
                </a:solidFill>
                <a:latin typeface="Poppins"/>
                <a:ea typeface="Poppins"/>
                <a:cs typeface="Poppins"/>
              </a:rPr>
              <a:t>2. Controllers e API REST: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2"/>
                </a:solidFill>
                <a:latin typeface="Poppins"/>
                <a:ea typeface="Poppins"/>
                <a:cs typeface="Poppins"/>
              </a:rPr>
              <a:t>Rotas, endpoints, verbos e status HTTP</a:t>
            </a:r>
          </a:p>
        </p:txBody>
      </p:sp>
      <p:sp>
        <p:nvSpPr>
          <p:cNvPr id="69" name="Google Shape;69;p14">
            <a:extLst>
              <a:ext uri="{FF2B5EF4-FFF2-40B4-BE49-F238E27FC236}">
                <a16:creationId xmlns:a16="http://schemas.microsoft.com/office/drawing/2014/main" id="{AF12169E-D12D-4E1E-9818-92AD7453E2B5}"/>
              </a:ext>
            </a:extLst>
          </p:cNvPr>
          <p:cNvSpPr>
            <a:spLocks noGrp="1"/>
          </p:cNvSpPr>
          <p:nvPr/>
        </p:nvSpPr>
        <p:spPr>
          <a:xfrm>
            <a:off x="3420000" y="3330000"/>
            <a:ext cx="2246700" cy="10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dk1"/>
                </a:solidFill>
                <a:latin typeface="Poppins"/>
                <a:ea typeface="Poppins"/>
                <a:cs typeface="Poppins"/>
              </a:rPr>
              <a:t>3. Padrão Singleton: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2"/>
                </a:solidFill>
                <a:latin typeface="Poppins"/>
                <a:ea typeface="Poppins"/>
                <a:cs typeface="Poppins"/>
              </a:rPr>
              <a:t>Instância única e estado em memória</a:t>
            </a:r>
          </a:p>
        </p:txBody>
      </p:sp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5841D3A0-4EFF-49DB-AC5B-65CDE2542ADF}"/>
              </a:ext>
            </a:extLst>
          </p:cNvPr>
          <p:cNvSpPr>
            <a:spLocks noGrp="1"/>
          </p:cNvSpPr>
          <p:nvPr/>
        </p:nvSpPr>
        <p:spPr>
          <a:xfrm>
            <a:off x="6120000" y="670050"/>
            <a:ext cx="2246700" cy="10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dk1"/>
                </a:solidFill>
                <a:latin typeface="Poppins"/>
                <a:ea typeface="Poppins"/>
                <a:cs typeface="Poppins"/>
              </a:rPr>
              <a:t>4. Resultados e conclusão: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2"/>
                </a:solidFill>
                <a:latin typeface="Poppins"/>
                <a:ea typeface="Poppins"/>
                <a:cs typeface="Poppins"/>
              </a:rPr>
              <a:t>CRUDs, testes e limitações</a:t>
            </a:r>
          </a:p>
        </p:txBody>
      </p:sp>
      <p:sp>
        <p:nvSpPr>
          <p:cNvPr id="71" name="Google Shape;71;p14">
            <a:extLst>
              <a:ext uri="{FF2B5EF4-FFF2-40B4-BE49-F238E27FC236}">
                <a16:creationId xmlns:a16="http://schemas.microsoft.com/office/drawing/2014/main" id="{F3B9132F-65F5-4719-92B0-81B48BA24F6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E2598689-54C9-18A7-3A19-ED76AA08988F}" type="slidenum">
              <a:rPr/>
              <a:t>2</a:t>
            </a:fld>
            <a:endParaRPr/>
          </a:p>
        </p:txBody>
      </p:sp>
      <p:sp>
        <p:nvSpPr>
          <p:cNvPr id="72" name="Google Shape;72;p14">
            <a:extLst>
              <a:ext uri="{FF2B5EF4-FFF2-40B4-BE49-F238E27FC236}">
                <a16:creationId xmlns:a16="http://schemas.microsoft.com/office/drawing/2014/main" id="{FD615B42-57E5-4BB2-9672-5BCB49B77CC7}"/>
              </a:ext>
            </a:extLst>
          </p:cNvPr>
          <p:cNvSpPr>
            <a:spLocks noGrp="1"/>
          </p:cNvSpPr>
          <p:nvPr/>
        </p:nvSpPr>
        <p:spPr>
          <a:xfrm>
            <a:off x="6225750" y="2034750"/>
            <a:ext cx="2246700" cy="10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dk1"/>
                </a:solidFill>
                <a:latin typeface="Poppins"/>
                <a:ea typeface="Poppins"/>
                <a:cs typeface="Poppins"/>
              </a:rPr>
              <a:t>5. Referências: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2"/>
                </a:solidFill>
                <a:latin typeface="Poppins"/>
                <a:ea typeface="Poppins"/>
                <a:cs typeface="Poppins"/>
              </a:rPr>
              <a:t>Fontes utilizadas no projeto</a:t>
            </a:r>
          </a:p>
        </p:txBody>
      </p:sp>
    </p:spTree>
    <p:extLst>
      <p:ext uri="{BB962C8B-B14F-4D97-AF65-F5344CB8AC3E}">
        <p14:creationId xmlns:p14="http://schemas.microsoft.com/office/powerpoint/2010/main" val="912835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>
            <a:extLst>
              <a:ext uri="{FF2B5EF4-FFF2-40B4-BE49-F238E27FC236}">
                <a16:creationId xmlns:a16="http://schemas.microsoft.com/office/drawing/2014/main" id="{8D99A4B5-F960-4D85-834F-05D88023B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47115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62183" lnSpcReduction="20000"/>
          </a:bodyPr>
          <a:lstStyle/>
          <a:p>
            <a:pPr marL="457200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</a:pPr>
            <a:r>
              <a:rPr>
                <a:latin typeface="Poppins"/>
                <a:ea typeface="Poppins"/>
                <a:cs typeface="Poppins"/>
              </a:rPr>
              <a:t>Problema: modernizar o catálogo da MecâniQA por meio de uma Web API.</a:t>
            </a:r>
          </a:p>
          <a:p>
            <a:pPr marL="457200" lvl="0" indent="-3429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800"/>
              <a:buFont typeface="Poppins"/>
              <a:buChar char="●"/>
            </a:pPr>
            <a:r>
              <a:rPr>
                <a:latin typeface="Poppins"/>
                <a:ea typeface="Poppins"/>
                <a:cs typeface="Poppins"/>
              </a:rPr>
              <a:t>Objetivo do MVP: executar o CRUD de Peças e Serviços em memória.</a:t>
            </a:r>
          </a:p>
          <a:p>
            <a:pPr marL="457200" lvl="0" indent="-3429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800"/>
              <a:buFont typeface="Poppins"/>
              <a:buChar char="●"/>
            </a:pPr>
            <a:r>
              <a:rPr>
                <a:latin typeface="Poppins"/>
                <a:ea typeface="Poppins"/>
                <a:cs typeface="Poppins"/>
              </a:rPr>
              <a:t>Peca e Servico agrupam atributos private e seus construtores.</a:t>
            </a:r>
          </a:p>
          <a:p>
            <a:pPr marL="457200" lvl="0" indent="-3429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800"/>
              <a:buFont typeface="Poppins"/>
              <a:buChar char="●"/>
            </a:pPr>
            <a:r>
              <a:rPr>
                <a:latin typeface="Poppins"/>
                <a:ea typeface="Poppins"/>
                <a:cs typeface="Poppins"/>
              </a:rPr>
              <a:t>static pertence à classe; CategoriaPeca restringe as categorias.</a:t>
            </a:r>
          </a:p>
          <a:p>
            <a:pPr marL="457200" lvl="0" indent="-3429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800"/>
              <a:buFont typeface="Poppins"/>
              <a:buChar char="●"/>
            </a:pPr>
            <a:r>
              <a:rPr>
                <a:latin typeface="Poppins"/>
                <a:ea typeface="Poppins"/>
                <a:cs typeface="Poppins"/>
              </a:rPr>
              <a:t>Getters e setters controlam o acesso e a alteração dos atributos.</a:t>
            </a:r>
          </a:p>
        </p:txBody>
      </p:sp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750577FE-A17F-40AF-9D90-19F61458610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202359C0-8A7A-196E-DD58-8E6569619F09}" type="slidenum">
              <a:rPr/>
              <a:t>3</a:t>
            </a:fld>
            <a:endParaRPr/>
          </a:p>
        </p:txBody>
      </p:sp>
      <p:sp>
        <p:nvSpPr>
          <p:cNvPr id="79" name="Google Shape;79;p15">
            <a:extLst>
              <a:ext uri="{FF2B5EF4-FFF2-40B4-BE49-F238E27FC236}">
                <a16:creationId xmlns:a16="http://schemas.microsoft.com/office/drawing/2014/main" id="{47EEE637-05D5-4869-B147-05916BFCAC02}"/>
              </a:ext>
            </a:extLst>
          </p:cNvPr>
          <p:cNvSpPr>
            <a:spLocks noGrp="1"/>
          </p:cNvSpPr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 b="1">
                <a:highlight>
                  <a:srgbClr val="FFFFFF"/>
                </a:highlight>
                <a:latin typeface="Poppins"/>
                <a:ea typeface="Poppins"/>
                <a:cs typeface="Poppins"/>
              </a:rPr>
              <a:t>Contexto e conceitos de OO</a:t>
            </a:r>
            <a:endParaRPr sz="3200" b="1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</a:endParaRPr>
          </a:p>
        </p:txBody>
      </p:sp>
      <p:pic>
        <p:nvPicPr>
          <p:cNvPr id="86" name="Google Shape;80;p15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9200" y="95525"/>
            <a:ext cx="1823100" cy="1056950"/>
          </a:xfrm>
          <a:prstGeom prst="rect">
            <a:avLst/>
          </a:prstGeom>
          <a:ln>
            <a:noFill/>
          </a:ln>
        </p:spPr>
      </p:pic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75F88846-1B09-4CB2-80A3-6757C529BF84}"/>
              </a:ext>
            </a:extLst>
          </p:cNvPr>
          <p:cNvSpPr>
            <a:spLocks noGrp="1"/>
          </p:cNvSpPr>
          <p:nvPr/>
        </p:nvSpPr>
        <p:spPr>
          <a:xfrm>
            <a:off x="2439550" y="4653975"/>
            <a:ext cx="4326600" cy="510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114300" lvl="0" indent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>
                <a:solidFill>
                  <a:schemeClr val="dk1"/>
                </a:solidFill>
                <a:latin typeface="Poppins"/>
                <a:ea typeface="Poppins"/>
                <a:cs typeface="Poppins"/>
              </a:rPr>
              <a:t>MecâniQA API - OAT 1</a:t>
            </a:r>
          </a:p>
        </p:txBody>
      </p:sp>
    </p:spTree>
    <p:extLst>
      <p:ext uri="{BB962C8B-B14F-4D97-AF65-F5344CB8AC3E}">
        <p14:creationId xmlns:p14="http://schemas.microsoft.com/office/powerpoint/2010/main" val="1761431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8C2689AF-F1DC-43B2-AE9A-C80A50383DF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EFD6AB9A-5F9E-5F59-51AB-3C8734130965}" type="slidenum">
              <a:rPr/>
              <a:t>4</a:t>
            </a:fld>
            <a:endParaRPr/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220A8513-4CC8-4C24-8857-1065C6EA360E}"/>
              </a:ext>
            </a:extLst>
          </p:cNvPr>
          <p:cNvSpPr>
            <a:spLocks noGrp="1"/>
          </p:cNvSpPr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 b="1">
                <a:highlight>
                  <a:srgbClr val="FFFFFF"/>
                </a:highlight>
                <a:latin typeface="Poppins"/>
                <a:ea typeface="Poppins"/>
                <a:cs typeface="Poppins"/>
              </a:rPr>
              <a:t>Controllers e API REST</a:t>
            </a:r>
            <a:endParaRPr sz="3200" b="1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</a:endParaRPr>
          </a:p>
        </p:txBody>
      </p:sp>
      <p:pic>
        <p:nvPicPr>
          <p:cNvPr id="96" name="Google Shape;88;p16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9200" y="95525"/>
            <a:ext cx="1823100" cy="1056950"/>
          </a:xfrm>
          <a:prstGeom prst="rect">
            <a:avLst/>
          </a:prstGeom>
          <a:ln>
            <a:noFill/>
          </a:ln>
        </p:spPr>
      </p:pic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A63E69C1-A0EE-48E8-BD54-0ABE18FFE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442100"/>
            <a:ext cx="4711500" cy="3126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/>
          <a:p>
            <a: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sz="1600">
                <a:latin typeface="Poppins"/>
                <a:ea typeface="Poppins"/>
                <a:cs typeface="Poppins"/>
              </a:rPr>
              <a:t>@RestController recebe requisições e devolve JSON.</a:t>
            </a:r>
          </a:p>
          <a:p>
            <a:pPr marL="914400" lvl="1" indent="-304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Poppins"/>
              <a:buChar char="○"/>
            </a:pPr>
            <a:r>
              <a:rPr sz="1200">
                <a:latin typeface="Poppins"/>
                <a:ea typeface="Poppins"/>
                <a:cs typeface="Poppins"/>
              </a:rPr>
              <a:t>@RequestMapping define a rota-base; os mappings criam endpoints.</a:t>
            </a:r>
          </a:p>
          <a:p>
            <a:pPr marL="914400" lvl="1" indent="-304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Poppins"/>
              <a:buChar char="○"/>
            </a:pPr>
            <a:r>
              <a:rPr sz="1200">
                <a:latin typeface="Poppins"/>
                <a:ea typeface="Poppins"/>
                <a:cs typeface="Poppins"/>
              </a:rPr>
              <a:t>POST cria; GET consulta; PUT atualiza; DELETE remove.</a:t>
            </a:r>
          </a:p>
          <a:p>
            <a:pPr marL="914400" lvl="1" indent="-30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200"/>
              <a:buFont typeface="Poppins"/>
              <a:buChar char="○"/>
            </a:pPr>
            <a:r>
              <a:rPr sz="1200">
                <a:latin typeface="Poppins"/>
                <a:ea typeface="Poppins"/>
                <a:cs typeface="Poppins"/>
              </a:rPr>
              <a:t>Retornos: 201 criado; 200 sucesso; 204 sem corpo; 404 ausente.</a:t>
            </a:r>
          </a:p>
        </p:txBody>
      </p:sp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932430FA-1B73-4666-B709-011E30B47285}"/>
              </a:ext>
            </a:extLst>
          </p:cNvPr>
          <p:cNvSpPr>
            <a:spLocks noGrp="1"/>
          </p:cNvSpPr>
          <p:nvPr/>
        </p:nvSpPr>
        <p:spPr>
          <a:xfrm>
            <a:off x="2439550" y="4653975"/>
            <a:ext cx="4326600" cy="510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114300" lvl="0" indent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>
                <a:solidFill>
                  <a:schemeClr val="dk1"/>
                </a:solidFill>
                <a:latin typeface="Poppins"/>
                <a:ea typeface="Poppins"/>
                <a:cs typeface="Poppins"/>
              </a:rPr>
              <a:t>MecâniQA API - OAT 1</a:t>
            </a:r>
          </a:p>
        </p:txBody>
      </p:sp>
      <p:pic>
        <p:nvPicPr>
          <p:cNvPr id="99" name="Imagem 9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37525" y="1613297"/>
            <a:ext cx="4163324" cy="2343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218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>
            <a:extLst>
              <a:ext uri="{FF2B5EF4-FFF2-40B4-BE49-F238E27FC236}">
                <a16:creationId xmlns:a16="http://schemas.microsoft.com/office/drawing/2014/main" id="{CC7B74A2-547F-45B3-A2BF-1D841244A9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EE5B3003-2C54-13C6-9832-7637201064DE}" type="slidenum">
              <a:rPr/>
              <a:t>5</a:t>
            </a:fld>
            <a:endParaRPr/>
          </a:p>
        </p:txBody>
      </p:sp>
      <p:sp>
        <p:nvSpPr>
          <p:cNvPr id="97" name="Google Shape;97;p17">
            <a:extLst>
              <a:ext uri="{FF2B5EF4-FFF2-40B4-BE49-F238E27FC236}">
                <a16:creationId xmlns:a16="http://schemas.microsoft.com/office/drawing/2014/main" id="{0F0ED8A2-A5E7-41F7-828A-E6FA5BD76937}"/>
              </a:ext>
            </a:extLst>
          </p:cNvPr>
          <p:cNvSpPr>
            <a:spLocks noGrp="1"/>
          </p:cNvSpPr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 b="1">
                <a:highlight>
                  <a:srgbClr val="FFFFFF"/>
                </a:highlight>
                <a:latin typeface="Poppins"/>
                <a:ea typeface="Poppins"/>
                <a:cs typeface="Poppins"/>
              </a:rPr>
              <a:t>Padrão Singleton</a:t>
            </a:r>
            <a:endParaRPr sz="3200" b="1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</a:endParaRPr>
          </a:p>
        </p:txBody>
      </p:sp>
      <p:sp>
        <p:nvSpPr>
          <p:cNvPr id="99" name="Google Shape;99;p17">
            <a:extLst>
              <a:ext uri="{FF2B5EF4-FFF2-40B4-BE49-F238E27FC236}">
                <a16:creationId xmlns:a16="http://schemas.microsoft.com/office/drawing/2014/main" id="{804E354D-80A5-433B-90F8-253438582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442100"/>
            <a:ext cx="4711500" cy="3126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/>
          <a:p>
            <a: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sz="1600" dirty="0">
                <a:latin typeface="Poppins"/>
                <a:ea typeface="Poppins"/>
                <a:cs typeface="Poppins"/>
              </a:rPr>
              <a:t>instance é static e </a:t>
            </a:r>
            <a:r>
              <a:rPr sz="1600" dirty="0" err="1">
                <a:latin typeface="Poppins"/>
                <a:ea typeface="Poppins"/>
                <a:cs typeface="Poppins"/>
              </a:rPr>
              <a:t>pertence</a:t>
            </a:r>
            <a:r>
              <a:rPr sz="1600" dirty="0">
                <a:latin typeface="Poppins"/>
                <a:ea typeface="Poppins"/>
                <a:cs typeface="Poppins"/>
              </a:rPr>
              <a:t> à </a:t>
            </a:r>
            <a:r>
              <a:rPr sz="1600" dirty="0" err="1">
                <a:latin typeface="Poppins"/>
                <a:ea typeface="Poppins"/>
                <a:cs typeface="Poppins"/>
              </a:rPr>
              <a:t>própria</a:t>
            </a:r>
            <a:r>
              <a:rPr sz="1600" dirty="0">
                <a:latin typeface="Poppins"/>
                <a:ea typeface="Poppins"/>
                <a:cs typeface="Poppins"/>
              </a:rPr>
              <a:t> </a:t>
            </a:r>
            <a:r>
              <a:rPr sz="1600" dirty="0" err="1">
                <a:latin typeface="Poppins"/>
                <a:ea typeface="Poppins"/>
                <a:cs typeface="Poppins"/>
              </a:rPr>
              <a:t>classe</a:t>
            </a:r>
            <a:r>
              <a:rPr sz="1600" dirty="0">
                <a:latin typeface="Poppins"/>
                <a:ea typeface="Poppins"/>
                <a:cs typeface="Poppins"/>
              </a:rPr>
              <a:t>.</a:t>
            </a:r>
          </a:p>
          <a:p>
            <a:pPr marL="914400" lvl="1" indent="-304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Poppins"/>
              <a:buChar char="○"/>
            </a:pPr>
            <a:r>
              <a:rPr sz="1200" dirty="0">
                <a:latin typeface="Poppins"/>
                <a:ea typeface="Poppins"/>
                <a:cs typeface="Poppins"/>
              </a:rPr>
              <a:t>O </a:t>
            </a:r>
            <a:r>
              <a:rPr sz="1200" dirty="0" err="1">
                <a:latin typeface="Poppins"/>
                <a:ea typeface="Poppins"/>
                <a:cs typeface="Poppins"/>
              </a:rPr>
              <a:t>construtor</a:t>
            </a:r>
            <a:r>
              <a:rPr sz="1200" dirty="0">
                <a:latin typeface="Poppins"/>
                <a:ea typeface="Poppins"/>
                <a:cs typeface="Poppins"/>
              </a:rPr>
              <a:t> private impede new fora do repository.</a:t>
            </a:r>
          </a:p>
          <a:p>
            <a:pPr marL="914400" lvl="1" indent="-304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Poppins"/>
              <a:buChar char="○"/>
            </a:pPr>
            <a:r>
              <a:rPr sz="1200" dirty="0" err="1">
                <a:latin typeface="Poppins"/>
                <a:ea typeface="Poppins"/>
                <a:cs typeface="Poppins"/>
              </a:rPr>
              <a:t>getInstance</a:t>
            </a:r>
            <a:r>
              <a:rPr sz="1200" dirty="0">
                <a:latin typeface="Poppins"/>
                <a:ea typeface="Poppins"/>
                <a:cs typeface="Poppins"/>
              </a:rPr>
              <a:t>() </a:t>
            </a:r>
            <a:r>
              <a:rPr sz="1200" dirty="0" err="1">
                <a:latin typeface="Poppins"/>
                <a:ea typeface="Poppins"/>
                <a:cs typeface="Poppins"/>
              </a:rPr>
              <a:t>cria</a:t>
            </a:r>
            <a:r>
              <a:rPr sz="1200" dirty="0">
                <a:latin typeface="Poppins"/>
                <a:ea typeface="Poppins"/>
                <a:cs typeface="Poppins"/>
              </a:rPr>
              <a:t> </a:t>
            </a:r>
            <a:r>
              <a:rPr sz="1200" dirty="0" err="1">
                <a:latin typeface="Poppins"/>
                <a:ea typeface="Poppins"/>
                <a:cs typeface="Poppins"/>
              </a:rPr>
              <a:t>uma</a:t>
            </a:r>
            <a:r>
              <a:rPr sz="1200" dirty="0">
                <a:latin typeface="Poppins"/>
                <a:ea typeface="Poppins"/>
                <a:cs typeface="Poppins"/>
              </a:rPr>
              <a:t> </a:t>
            </a:r>
            <a:r>
              <a:rPr sz="1200" dirty="0" err="1">
                <a:latin typeface="Poppins"/>
                <a:ea typeface="Poppins"/>
                <a:cs typeface="Poppins"/>
              </a:rPr>
              <a:t>vez</a:t>
            </a:r>
            <a:r>
              <a:rPr sz="1200" dirty="0">
                <a:latin typeface="Poppins"/>
                <a:ea typeface="Poppins"/>
                <a:cs typeface="Poppins"/>
              </a:rPr>
              <a:t> e devolve a </a:t>
            </a:r>
            <a:r>
              <a:rPr sz="1200" dirty="0" err="1">
                <a:latin typeface="Poppins"/>
                <a:ea typeface="Poppins"/>
                <a:cs typeface="Poppins"/>
              </a:rPr>
              <a:t>mesma</a:t>
            </a:r>
            <a:r>
              <a:rPr sz="1200" dirty="0">
                <a:latin typeface="Poppins"/>
                <a:ea typeface="Poppins"/>
                <a:cs typeface="Poppins"/>
              </a:rPr>
              <a:t> </a:t>
            </a:r>
            <a:r>
              <a:rPr sz="1200" dirty="0" err="1">
                <a:latin typeface="Poppins"/>
                <a:ea typeface="Poppins"/>
                <a:cs typeface="Poppins"/>
              </a:rPr>
              <a:t>instância</a:t>
            </a:r>
            <a:r>
              <a:rPr sz="1200" dirty="0">
                <a:latin typeface="Poppins"/>
                <a:ea typeface="Poppins"/>
                <a:cs typeface="Poppins"/>
              </a:rPr>
              <a:t>.</a:t>
            </a:r>
          </a:p>
          <a:p>
            <a:pPr marL="914400" lvl="1" indent="-30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200"/>
              <a:buFont typeface="Poppins"/>
              <a:buChar char="○"/>
            </a:pPr>
            <a:r>
              <a:rPr sz="1200" dirty="0">
                <a:latin typeface="Poppins"/>
                <a:ea typeface="Poppins"/>
                <a:cs typeface="Poppins"/>
              </a:rPr>
              <a:t>A </a:t>
            </a:r>
            <a:r>
              <a:rPr sz="1200" dirty="0" err="1">
                <a:latin typeface="Poppins"/>
                <a:ea typeface="Poppins"/>
                <a:cs typeface="Poppins"/>
              </a:rPr>
              <a:t>lista</a:t>
            </a:r>
            <a:r>
              <a:rPr sz="1200" dirty="0">
                <a:latin typeface="Poppins"/>
                <a:ea typeface="Poppins"/>
                <a:cs typeface="Poppins"/>
              </a:rPr>
              <a:t> </a:t>
            </a:r>
            <a:r>
              <a:rPr sz="1200" dirty="0" err="1">
                <a:latin typeface="Poppins"/>
                <a:ea typeface="Poppins"/>
                <a:cs typeface="Poppins"/>
              </a:rPr>
              <a:t>preserva</a:t>
            </a:r>
            <a:r>
              <a:rPr sz="1200" dirty="0">
                <a:latin typeface="Poppins"/>
                <a:ea typeface="Poppins"/>
                <a:cs typeface="Poppins"/>
              </a:rPr>
              <a:t> o </a:t>
            </a:r>
            <a:r>
              <a:rPr sz="1200" dirty="0" err="1">
                <a:latin typeface="Poppins"/>
                <a:ea typeface="Poppins"/>
                <a:cs typeface="Poppins"/>
              </a:rPr>
              <a:t>estado</a:t>
            </a:r>
            <a:r>
              <a:rPr sz="1200" dirty="0">
                <a:latin typeface="Poppins"/>
                <a:ea typeface="Poppins"/>
                <a:cs typeface="Poppins"/>
              </a:rPr>
              <a:t> </a:t>
            </a:r>
            <a:r>
              <a:rPr sz="1200" dirty="0" err="1">
                <a:latin typeface="Poppins"/>
                <a:ea typeface="Poppins"/>
                <a:cs typeface="Poppins"/>
              </a:rPr>
              <a:t>enquanto</a:t>
            </a:r>
            <a:r>
              <a:rPr sz="1200" dirty="0">
                <a:latin typeface="Poppins"/>
                <a:ea typeface="Poppins"/>
                <a:cs typeface="Poppins"/>
              </a:rPr>
              <a:t> o </a:t>
            </a:r>
            <a:r>
              <a:rPr sz="1200" dirty="0" err="1">
                <a:latin typeface="Poppins"/>
                <a:ea typeface="Poppins"/>
                <a:cs typeface="Poppins"/>
              </a:rPr>
              <a:t>servidor</a:t>
            </a:r>
            <a:r>
              <a:rPr sz="1200" dirty="0">
                <a:latin typeface="Poppins"/>
                <a:ea typeface="Poppins"/>
                <a:cs typeface="Poppins"/>
              </a:rPr>
              <a:t> </a:t>
            </a:r>
            <a:r>
              <a:rPr sz="1200" dirty="0" err="1">
                <a:latin typeface="Poppins"/>
                <a:ea typeface="Poppins"/>
                <a:cs typeface="Poppins"/>
              </a:rPr>
              <a:t>está</a:t>
            </a:r>
            <a:r>
              <a:rPr sz="1200" dirty="0">
                <a:latin typeface="Poppins"/>
                <a:ea typeface="Poppins"/>
                <a:cs typeface="Poppins"/>
              </a:rPr>
              <a:t> </a:t>
            </a:r>
            <a:r>
              <a:rPr sz="1200" dirty="0" err="1">
                <a:latin typeface="Poppins"/>
                <a:ea typeface="Poppins"/>
                <a:cs typeface="Poppins"/>
              </a:rPr>
              <a:t>ativo</a:t>
            </a:r>
            <a:r>
              <a:rPr sz="1200" dirty="0"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101" name="Google Shape;101;p17">
            <a:extLst>
              <a:ext uri="{FF2B5EF4-FFF2-40B4-BE49-F238E27FC236}">
                <a16:creationId xmlns:a16="http://schemas.microsoft.com/office/drawing/2014/main" id="{5FF2D75E-80FB-4E0A-8E37-E7F9C23A107D}"/>
              </a:ext>
            </a:extLst>
          </p:cNvPr>
          <p:cNvSpPr>
            <a:spLocks noGrp="1"/>
          </p:cNvSpPr>
          <p:nvPr/>
        </p:nvSpPr>
        <p:spPr>
          <a:xfrm>
            <a:off x="2439550" y="4653975"/>
            <a:ext cx="4326600" cy="510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114300" lvl="0" indent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>
                <a:solidFill>
                  <a:schemeClr val="dk1"/>
                </a:solidFill>
                <a:latin typeface="Poppins"/>
                <a:ea typeface="Poppins"/>
                <a:cs typeface="Poppins"/>
              </a:rPr>
              <a:t>MecâniQA API - OAT 1</a:t>
            </a:r>
          </a:p>
        </p:txBody>
      </p:sp>
      <p:pic>
        <p:nvPicPr>
          <p:cNvPr id="109" name="Imagem 10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863741" y="1654930"/>
            <a:ext cx="4015388" cy="2260090"/>
          </a:xfrm>
          <a:prstGeom prst="rect">
            <a:avLst/>
          </a:prstGeom>
        </p:spPr>
      </p:pic>
      <p:pic>
        <p:nvPicPr>
          <p:cNvPr id="110" name="Imagem 10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009200" y="107261"/>
            <a:ext cx="1823100" cy="103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891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>
            <a:extLst>
              <a:ext uri="{FF2B5EF4-FFF2-40B4-BE49-F238E27FC236}">
                <a16:creationId xmlns:a16="http://schemas.microsoft.com/office/drawing/2014/main" id="{A999A179-38E7-436D-AE92-A722C5F9C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/>
          <a:p>
            <a:pPr marL="457200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</a:pPr>
            <a:r>
              <a:rPr>
                <a:latin typeface="Poppins"/>
                <a:ea typeface="Poppins"/>
                <a:cs typeface="Poppins"/>
              </a:rPr>
              <a:t>Os CRUDs de Peças e Serviços atendem às oito User Stories.</a:t>
            </a:r>
          </a:p>
          <a:p>
            <a:pPr marL="457200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</a:pPr>
            <a:r>
              <a:rPr>
                <a:latin typeface="Poppins"/>
                <a:ea typeface="Poppins"/>
                <a:cs typeface="Poppins"/>
              </a:rPr>
              <a:t>Códigos e datas são gerados automaticamente pela aplicação.</a:t>
            </a:r>
          </a:p>
          <a:p>
            <a:pPr marL="457200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</a:pPr>
            <a:r>
              <a:rPr>
                <a:latin typeface="Poppins"/>
                <a:ea typeface="Poppins"/>
                <a:cs typeface="Poppins"/>
              </a:rPr>
              <a:t>O Postman possui 18 requisições e o JUnit valida o módulo de Peças.</a:t>
            </a:r>
          </a:p>
          <a:p>
            <a:pPr marL="457200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</a:pPr>
            <a:r>
              <a:rPr>
                <a:latin typeface="Poppins"/>
                <a:ea typeface="Poppins"/>
                <a:cs typeface="Poppins"/>
              </a:rPr>
              <a:t>A API utiliza memória, sem banco, Spring Data ou @Autowired.</a:t>
            </a:r>
          </a:p>
          <a:p>
            <a:pPr marL="457200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</a:pPr>
            <a:r>
              <a:rPr>
                <a:latin typeface="Poppins"/>
                <a:ea typeface="Poppins"/>
                <a:cs typeface="Poppins"/>
              </a:rPr>
              <a:t>Ao reiniciar o servidor, as listas e os identificadores são reiniciados.</a:t>
            </a:r>
          </a:p>
        </p:txBody>
      </p:sp>
      <p:sp>
        <p:nvSpPr>
          <p:cNvPr id="107" name="Google Shape;107;p18">
            <a:extLst>
              <a:ext uri="{FF2B5EF4-FFF2-40B4-BE49-F238E27FC236}">
                <a16:creationId xmlns:a16="http://schemas.microsoft.com/office/drawing/2014/main" id="{C7C24F5C-EF5A-46BE-AE16-7F1F2DD71F5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8C630A04-5A25-9E0C-9436-126091DB86B3}" type="slidenum">
              <a:rPr/>
              <a:t>6</a:t>
            </a:fld>
            <a:endParaRPr/>
          </a:p>
        </p:txBody>
      </p:sp>
      <p:sp>
        <p:nvSpPr>
          <p:cNvPr id="108" name="Google Shape;108;p18">
            <a:extLst>
              <a:ext uri="{FF2B5EF4-FFF2-40B4-BE49-F238E27FC236}">
                <a16:creationId xmlns:a16="http://schemas.microsoft.com/office/drawing/2014/main" id="{E1D3EAA1-FF6E-4538-8748-100C50441143}"/>
              </a:ext>
            </a:extLst>
          </p:cNvPr>
          <p:cNvSpPr>
            <a:spLocks noGrp="1"/>
          </p:cNvSpPr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 b="1">
                <a:highlight>
                  <a:srgbClr val="FFFFFF"/>
                </a:highlight>
                <a:latin typeface="Poppins"/>
                <a:ea typeface="Poppins"/>
                <a:cs typeface="Poppins"/>
              </a:rPr>
              <a:t>Resultados e conclusão</a:t>
            </a:r>
            <a:endParaRPr sz="3200" b="1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</a:endParaRPr>
          </a:p>
        </p:txBody>
      </p:sp>
      <p:pic>
        <p:nvPicPr>
          <p:cNvPr id="115" name="Google Shape;109;p18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9200" y="95525"/>
            <a:ext cx="1823100" cy="1056950"/>
          </a:xfrm>
          <a:prstGeom prst="rect">
            <a:avLst/>
          </a:prstGeom>
          <a:ln>
            <a:noFill/>
          </a:ln>
        </p:spPr>
      </p:pic>
      <p:sp>
        <p:nvSpPr>
          <p:cNvPr id="110" name="Google Shape;110;p18">
            <a:extLst>
              <a:ext uri="{FF2B5EF4-FFF2-40B4-BE49-F238E27FC236}">
                <a16:creationId xmlns:a16="http://schemas.microsoft.com/office/drawing/2014/main" id="{C5953FBB-34A6-4813-95A5-7B86C4053D06}"/>
              </a:ext>
            </a:extLst>
          </p:cNvPr>
          <p:cNvSpPr>
            <a:spLocks noGrp="1"/>
          </p:cNvSpPr>
          <p:nvPr/>
        </p:nvSpPr>
        <p:spPr>
          <a:xfrm>
            <a:off x="2439550" y="4653975"/>
            <a:ext cx="4326600" cy="510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114300" lvl="0" indent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>
                <a:solidFill>
                  <a:schemeClr val="dk1"/>
                </a:solidFill>
                <a:latin typeface="Poppins"/>
                <a:ea typeface="Poppins"/>
                <a:cs typeface="Poppins"/>
              </a:rPr>
              <a:t>MecâniQA API - OAT 1</a:t>
            </a:r>
          </a:p>
        </p:txBody>
      </p:sp>
    </p:spTree>
    <p:extLst>
      <p:ext uri="{BB962C8B-B14F-4D97-AF65-F5344CB8AC3E}">
        <p14:creationId xmlns:p14="http://schemas.microsoft.com/office/powerpoint/2010/main" val="1168828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>
            <a:extLst>
              <a:ext uri="{FF2B5EF4-FFF2-40B4-BE49-F238E27FC236}">
                <a16:creationId xmlns:a16="http://schemas.microsoft.com/office/drawing/2014/main" id="{C2D5F9E6-0D22-4E40-845A-5E2D444C8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8229" lnSpcReduction="10000"/>
          </a:bodyPr>
          <a:lstStyle/>
          <a:p>
            <a:pPr marL="457200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</a:pPr>
            <a:r>
              <a:rPr dirty="0">
                <a:latin typeface="Poppins"/>
                <a:ea typeface="Poppins"/>
                <a:cs typeface="Poppins"/>
              </a:rPr>
              <a:t>MECÂNIQA. OAT 1 </a:t>
            </a:r>
            <a:r>
              <a:rPr lang="pt-BR" dirty="0">
                <a:latin typeface="Poppins"/>
                <a:ea typeface="Poppins"/>
                <a:cs typeface="Poppins"/>
              </a:rPr>
              <a:t>-</a:t>
            </a:r>
            <a:r>
              <a:rPr dirty="0">
                <a:latin typeface="Poppins"/>
                <a:ea typeface="Poppins"/>
                <a:cs typeface="Poppins"/>
              </a:rPr>
              <a:t> </a:t>
            </a:r>
            <a:r>
              <a:rPr dirty="0" err="1">
                <a:latin typeface="Poppins"/>
                <a:ea typeface="Poppins"/>
                <a:cs typeface="Poppins"/>
              </a:rPr>
              <a:t>Construindo</a:t>
            </a:r>
            <a:r>
              <a:rPr dirty="0">
                <a:latin typeface="Poppins"/>
                <a:ea typeface="Poppins"/>
                <a:cs typeface="Poppins"/>
              </a:rPr>
              <a:t> a Web API </a:t>
            </a:r>
            <a:r>
              <a:rPr dirty="0" err="1">
                <a:latin typeface="Poppins"/>
                <a:ea typeface="Poppins"/>
                <a:cs typeface="Poppins"/>
              </a:rPr>
              <a:t>Fundacional</a:t>
            </a:r>
            <a:r>
              <a:rPr dirty="0">
                <a:latin typeface="Poppins"/>
                <a:ea typeface="Poppins"/>
                <a:cs typeface="Poppins"/>
              </a:rPr>
              <a:t> da </a:t>
            </a:r>
            <a:r>
              <a:rPr dirty="0" err="1">
                <a:latin typeface="Poppins"/>
                <a:ea typeface="Poppins"/>
                <a:cs typeface="Poppins"/>
              </a:rPr>
              <a:t>MecâniQA</a:t>
            </a:r>
            <a:r>
              <a:rPr dirty="0">
                <a:latin typeface="Poppins"/>
                <a:ea typeface="Poppins"/>
                <a:cs typeface="Poppins"/>
              </a:rPr>
              <a:t>. 2026.</a:t>
            </a:r>
          </a:p>
          <a:p>
            <a:pPr marL="457200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</a:pPr>
            <a:r>
              <a:rPr dirty="0">
                <a:latin typeface="Poppins"/>
                <a:ea typeface="Poppins"/>
                <a:cs typeface="Poppins"/>
              </a:rPr>
              <a:t>EQUIPE PORTO ALEGRE. </a:t>
            </a:r>
            <a:r>
              <a:rPr dirty="0" err="1">
                <a:latin typeface="Poppins"/>
                <a:ea typeface="Poppins"/>
                <a:cs typeface="Poppins"/>
              </a:rPr>
              <a:t>mecaniQA-api-porto-alegre</a:t>
            </a:r>
            <a:r>
              <a:rPr dirty="0">
                <a:latin typeface="Poppins"/>
                <a:ea typeface="Poppins"/>
                <a:cs typeface="Poppins"/>
              </a:rPr>
              <a:t>. GitHub, 2026.</a:t>
            </a:r>
          </a:p>
          <a:p>
            <a:pPr marL="457200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</a:pPr>
            <a:r>
              <a:rPr dirty="0">
                <a:latin typeface="Poppins"/>
                <a:ea typeface="Poppins"/>
                <a:cs typeface="Poppins"/>
              </a:rPr>
              <a:t>github.com/</a:t>
            </a:r>
            <a:r>
              <a:rPr dirty="0" err="1">
                <a:latin typeface="Poppins"/>
                <a:ea typeface="Poppins"/>
                <a:cs typeface="Poppins"/>
              </a:rPr>
              <a:t>Meizolas</a:t>
            </a:r>
            <a:r>
              <a:rPr dirty="0">
                <a:latin typeface="Poppins"/>
                <a:ea typeface="Poppins"/>
                <a:cs typeface="Poppins"/>
              </a:rPr>
              <a:t>/</a:t>
            </a:r>
            <a:r>
              <a:rPr dirty="0" err="1">
                <a:latin typeface="Poppins"/>
                <a:ea typeface="Poppins"/>
                <a:cs typeface="Poppins"/>
              </a:rPr>
              <a:t>mecaniQA-api-porto-alegre</a:t>
            </a:r>
            <a:endParaRPr dirty="0">
              <a:latin typeface="Poppins"/>
              <a:ea typeface="Poppins"/>
              <a:cs typeface="Poppins"/>
            </a:endParaRPr>
          </a:p>
          <a:p>
            <a:pPr marL="457200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</a:pPr>
            <a:r>
              <a:rPr dirty="0">
                <a:latin typeface="Poppins"/>
                <a:ea typeface="Poppins"/>
                <a:cs typeface="Poppins"/>
              </a:rPr>
              <a:t>SPRING. Spring Boot Reference Documentation.</a:t>
            </a:r>
          </a:p>
          <a:p>
            <a:pPr marL="457200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</a:pPr>
            <a:r>
              <a:rPr dirty="0">
                <a:latin typeface="Poppins"/>
                <a:ea typeface="Poppins"/>
                <a:cs typeface="Poppins"/>
              </a:rPr>
              <a:t>docs.spring.io/spring-boot</a:t>
            </a:r>
          </a:p>
          <a:p>
            <a:pPr marL="457200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</a:pPr>
            <a:r>
              <a:rPr dirty="0">
                <a:latin typeface="Poppins"/>
                <a:ea typeface="Poppins"/>
                <a:cs typeface="Poppins"/>
              </a:rPr>
              <a:t>ORACLE. Java 17 Documentation.</a:t>
            </a:r>
          </a:p>
          <a:p>
            <a:pPr marL="457200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</a:pPr>
            <a:r>
              <a:rPr dirty="0">
                <a:latin typeface="Poppins"/>
                <a:ea typeface="Poppins"/>
                <a:cs typeface="Poppins"/>
              </a:rPr>
              <a:t>docs.oracle.com/</a:t>
            </a:r>
            <a:r>
              <a:rPr dirty="0" err="1">
                <a:latin typeface="Poppins"/>
                <a:ea typeface="Poppins"/>
                <a:cs typeface="Poppins"/>
              </a:rPr>
              <a:t>en</a:t>
            </a:r>
            <a:r>
              <a:rPr dirty="0">
                <a:latin typeface="Poppins"/>
                <a:ea typeface="Poppins"/>
                <a:cs typeface="Poppins"/>
              </a:rPr>
              <a:t>/java/</a:t>
            </a:r>
            <a:r>
              <a:rPr dirty="0" err="1">
                <a:latin typeface="Poppins"/>
                <a:ea typeface="Poppins"/>
                <a:cs typeface="Poppins"/>
              </a:rPr>
              <a:t>javase</a:t>
            </a:r>
            <a:r>
              <a:rPr dirty="0">
                <a:latin typeface="Poppins"/>
                <a:ea typeface="Poppins"/>
                <a:cs typeface="Poppins"/>
              </a:rPr>
              <a:t>/17</a:t>
            </a:r>
          </a:p>
        </p:txBody>
      </p:sp>
      <p:sp>
        <p:nvSpPr>
          <p:cNvPr id="116" name="Google Shape;116;p19">
            <a:extLst>
              <a:ext uri="{FF2B5EF4-FFF2-40B4-BE49-F238E27FC236}">
                <a16:creationId xmlns:a16="http://schemas.microsoft.com/office/drawing/2014/main" id="{12169CEB-B0E2-426E-8F27-58C59D2A75F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D3D7D1C8-AE23-AA48-DF65-C742588DBE47}" type="slidenum">
              <a:rPr/>
              <a:t>7</a:t>
            </a:fld>
            <a:endParaRPr/>
          </a:p>
        </p:txBody>
      </p:sp>
      <p:sp>
        <p:nvSpPr>
          <p:cNvPr id="117" name="Google Shape;117;p19">
            <a:extLst>
              <a:ext uri="{FF2B5EF4-FFF2-40B4-BE49-F238E27FC236}">
                <a16:creationId xmlns:a16="http://schemas.microsoft.com/office/drawing/2014/main" id="{2443E8C3-53E3-4667-BFF2-81034C26496E}"/>
              </a:ext>
            </a:extLst>
          </p:cNvPr>
          <p:cNvSpPr>
            <a:spLocks noGrp="1"/>
          </p:cNvSpPr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 b="1">
                <a:highlight>
                  <a:srgbClr val="FFFFFF"/>
                </a:highlight>
                <a:latin typeface="Poppins"/>
                <a:ea typeface="Poppins"/>
                <a:cs typeface="Poppins"/>
              </a:rPr>
              <a:t>Referências</a:t>
            </a:r>
            <a:endParaRPr sz="3200" b="1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</a:endParaRPr>
          </a:p>
        </p:txBody>
      </p:sp>
      <p:pic>
        <p:nvPicPr>
          <p:cNvPr id="124" name="Google Shape;118;p19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9200" y="95525"/>
            <a:ext cx="1823100" cy="1056950"/>
          </a:xfrm>
          <a:prstGeom prst="rect">
            <a:avLst/>
          </a:prstGeom>
          <a:ln>
            <a:noFill/>
          </a:ln>
        </p:spPr>
      </p:pic>
      <p:sp>
        <p:nvSpPr>
          <p:cNvPr id="119" name="Google Shape;119;p19">
            <a:extLst>
              <a:ext uri="{FF2B5EF4-FFF2-40B4-BE49-F238E27FC236}">
                <a16:creationId xmlns:a16="http://schemas.microsoft.com/office/drawing/2014/main" id="{17D0E5EE-118D-4220-8799-D306B2E3AE75}"/>
              </a:ext>
            </a:extLst>
          </p:cNvPr>
          <p:cNvSpPr>
            <a:spLocks noGrp="1"/>
          </p:cNvSpPr>
          <p:nvPr/>
        </p:nvSpPr>
        <p:spPr>
          <a:xfrm>
            <a:off x="2439550" y="4653975"/>
            <a:ext cx="4326600" cy="510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114300" lvl="0" indent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>
                <a:solidFill>
                  <a:schemeClr val="dk1"/>
                </a:solidFill>
                <a:latin typeface="Poppins"/>
                <a:ea typeface="Poppins"/>
                <a:cs typeface="Poppins"/>
              </a:rPr>
              <a:t>MecâniQA API - OAT 1</a:t>
            </a:r>
          </a:p>
        </p:txBody>
      </p:sp>
    </p:spTree>
    <p:extLst>
      <p:ext uri="{BB962C8B-B14F-4D97-AF65-F5344CB8AC3E}">
        <p14:creationId xmlns:p14="http://schemas.microsoft.com/office/powerpoint/2010/main" val="169086889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655</Words>
  <Application>Microsoft Office PowerPoint</Application>
  <DocSecurity>0</DocSecurity>
  <PresentationFormat>Apresentação na tela (16:9)</PresentationFormat>
  <Paragraphs>87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Poppins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Hélio Nunes Moraes</cp:lastModifiedBy>
  <cp:revision>3</cp:revision>
  <dcterms:created xsi:type="dcterms:W3CDTF">2026-08-30T00:49:04Z</dcterms:created>
  <dcterms:modified xsi:type="dcterms:W3CDTF">2026-08-30T00:55:30Z</dcterms:modified>
</cp:coreProperties>
</file>